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37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D182C-3943-9046-48AB-597C28514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DAC691-0D36-9856-828D-EB57A412F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C7346-BF87-6D95-D25F-E4FB673E1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67A62-DCBC-4B42-E98C-1CDD57F6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133F9B-53B2-783D-CB7A-22476D1B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99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74773-609F-3573-203E-D785F2B82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7CFFB2-5355-6B25-0BF2-7FEBE40FA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8AAE38-24DD-DFAC-5118-0F7F5387E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290799-5186-5C00-D6C2-FDDD0BDC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EB31DD-40CF-9CA8-613F-655BD20FC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4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660DF-4342-8135-917F-6E8EC92C9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CDA2FA-5339-FE4A-9D6E-001684D45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0B3FB9-2CBB-21DE-2719-CDB129BD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D140B7-9787-EF7A-A67B-A84A8079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75BE4E-77F2-1C01-14E4-55A6B6A2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1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3718F-773F-CE08-25A1-638C9B658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CE0B0C-298C-0352-445A-5F3C0DC1D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167335-8270-7677-4697-8A790B1BD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B0C3E0-A86D-5C1D-7EF6-E7DB3C7FC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4F7A76-3802-BA6E-3406-8A5EF184D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9AF47A-812F-FDF5-65FD-E5CA8007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85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D83677-0339-B1DD-6D66-3F5D153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9E5F0E-32E1-E5C2-DF09-A45FD2853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A3BFC6-FB18-82B4-4240-D628166C9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E6F0FF-351B-F5C9-7026-FABA10BFB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26305F-35B2-5EC6-D529-EF5CE1DFBB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E63587F-CCB5-8758-8589-7FE0308B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C50E74-2A66-9951-5F46-26C89203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E81202-7E15-512B-4BE4-02E251D27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601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3E364-50B9-44D7-D04B-692B6F2F1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855C40-9784-C01F-3F3B-03D871E2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40AAAF-1BF0-DE6E-F281-E5548233C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4B2A44-B1BA-AF4A-7237-8FEBFD20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79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234674-636D-51E4-4142-3900B0CB1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0B1C99-D240-4716-0BE0-2601D07F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6B448B-F92A-7E82-8468-12E67FD5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990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29B00-F6B3-865B-E5F5-C7EA51FB2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1C755D-C716-B3C2-C6B9-15A764988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627980-84A5-ED20-0E80-DF6152E5A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132EE0-C123-FCFF-5BE9-6C81946D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1AFD9B-3380-84D9-649C-C93AB00D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CA1FC4-D4FF-EEE6-8743-4942442FD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661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F4F08-5638-DACD-59D6-550EF7A4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8F1FDA-B867-B050-300C-D267BF635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46F5E0-5791-B006-7C95-758DF9AC6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22CF1D-CB6E-D763-26C7-D461CF2DE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A0E39F-4491-0352-CE67-CF674B0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352B6B-3C42-9F94-0EBB-98D5731A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02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7B0FE-B594-7D3B-135D-BA5CAEEB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05B662-2BBB-F3C5-A752-FA550DEC4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D78060-D8C9-A350-8BF9-047FEEB7C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718946-15EF-0E52-D612-02400212B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6FC309-D1BF-399F-8C38-1CCD9D022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57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15C1FD-30D5-01C2-C2B2-E3AF70687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7EEF84-FF7D-FE40-F876-503D8473D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E53AD9-62E4-BE37-9D44-373677CF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B61AF-0E0B-4B19-5FCD-382CDC11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F2F98-4B4B-6252-8BC0-20F7227E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407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CFE6BB-D027-D800-6B18-0944CCF8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EA9158-2EB0-F07C-ABC9-8EB8573FF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FBADDA-FADB-936A-BF87-FCA1CF106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D6BF0-3063-42AD-8BB9-0CB47B48A7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AC22E8-D774-DEA8-FDBD-5EA13AEEC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D338F-5B1D-AD6F-21E2-863FBCD91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7C9F6-672B-41D4-8867-B171E73C7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262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4.26518" TargetMode="Externa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5D063-38B4-192D-A4A6-6674C2AE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43195F16-F578-0AA2-7165-EBE808BF4680}"/>
              </a:ext>
            </a:extLst>
          </p:cNvPr>
          <p:cNvSpPr/>
          <p:nvPr/>
        </p:nvSpPr>
        <p:spPr>
          <a:xfrm>
            <a:off x="4881989" y="2988857"/>
            <a:ext cx="1574018" cy="1468843"/>
          </a:xfrm>
          <a:prstGeom prst="roundRect">
            <a:avLst>
              <a:gd name="adj" fmla="val 8512"/>
            </a:avLst>
          </a:prstGeom>
          <a:solidFill>
            <a:schemeClr val="accent4">
              <a:lumMod val="20000"/>
              <a:lumOff val="80000"/>
              <a:alpha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19C7A522-A8DD-6116-BD86-9851B21D8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2896" y="1256571"/>
            <a:ext cx="616085" cy="6160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ECC8F3C-9124-5A38-CBCF-DC876CBD116C}"/>
              </a:ext>
            </a:extLst>
          </p:cNvPr>
          <p:cNvSpPr/>
          <p:nvPr/>
        </p:nvSpPr>
        <p:spPr>
          <a:xfrm>
            <a:off x="8237527" y="585181"/>
            <a:ext cx="1511030" cy="1747811"/>
          </a:xfrm>
          <a:prstGeom prst="roundRect">
            <a:avLst>
              <a:gd name="adj" fmla="val 8512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21DBB1-BBAB-5BCB-69C0-5C63A60A5FCF}"/>
              </a:ext>
            </a:extLst>
          </p:cNvPr>
          <p:cNvSpPr txBox="1"/>
          <p:nvPr/>
        </p:nvSpPr>
        <p:spPr>
          <a:xfrm>
            <a:off x="8307598" y="585181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 Simulation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E813A96-4243-FEAB-0A69-431B806CA369}"/>
              </a:ext>
            </a:extLst>
          </p:cNvPr>
          <p:cNvSpPr txBox="1"/>
          <p:nvPr/>
        </p:nvSpPr>
        <p:spPr>
          <a:xfrm>
            <a:off x="5088962" y="1872656"/>
            <a:ext cx="10839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Lattice dataset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82B4E1A-A648-3510-7B6C-61C693FB2C12}"/>
              </a:ext>
            </a:extLst>
          </p:cNvPr>
          <p:cNvSpPr/>
          <p:nvPr/>
        </p:nvSpPr>
        <p:spPr>
          <a:xfrm>
            <a:off x="5088962" y="1082284"/>
            <a:ext cx="1083951" cy="1067371"/>
          </a:xfrm>
          <a:prstGeom prst="roundRect">
            <a:avLst>
              <a:gd name="adj" fmla="val 8512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C0B30A5-A403-AD08-87D5-9E9BF61B8EC4}"/>
              </a:ext>
            </a:extLst>
          </p:cNvPr>
          <p:cNvSpPr/>
          <p:nvPr/>
        </p:nvSpPr>
        <p:spPr>
          <a:xfrm>
            <a:off x="8367229" y="832941"/>
            <a:ext cx="1251626" cy="276999"/>
          </a:xfrm>
          <a:prstGeom prst="roundRect">
            <a:avLst/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Asymptotic Homogenization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90DA5B0-63D8-1BE6-48BB-705CEDAFDC6E}"/>
              </a:ext>
            </a:extLst>
          </p:cNvPr>
          <p:cNvSpPr/>
          <p:nvPr/>
        </p:nvSpPr>
        <p:spPr>
          <a:xfrm>
            <a:off x="8367229" y="1215926"/>
            <a:ext cx="1251626" cy="276999"/>
          </a:xfrm>
          <a:prstGeom prst="roundRect">
            <a:avLst/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PH-Net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B910E61-84B4-B69E-C2D0-4B735BD7C5BA}"/>
              </a:ext>
            </a:extLst>
          </p:cNvPr>
          <p:cNvSpPr/>
          <p:nvPr/>
        </p:nvSpPr>
        <p:spPr>
          <a:xfrm>
            <a:off x="8367229" y="1598911"/>
            <a:ext cx="1251626" cy="276999"/>
          </a:xfrm>
          <a:prstGeom prst="roundRect">
            <a:avLst/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SLASH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矩形: 圆角 30">
            <a:hlinkClick r:id="rId3"/>
            <a:extLst>
              <a:ext uri="{FF2B5EF4-FFF2-40B4-BE49-F238E27FC236}">
                <a16:creationId xmlns:a16="http://schemas.microsoft.com/office/drawing/2014/main" id="{49D46FBA-607D-6FEE-7898-DC16DCC6CFFF}"/>
              </a:ext>
            </a:extLst>
          </p:cNvPr>
          <p:cNvSpPr/>
          <p:nvPr/>
        </p:nvSpPr>
        <p:spPr>
          <a:xfrm>
            <a:off x="8367229" y="1981895"/>
            <a:ext cx="1251626" cy="276999"/>
          </a:xfrm>
          <a:prstGeom prst="roundRect">
            <a:avLst/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GMT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910ED00-38CD-A732-2E4C-734AD6E742EC}"/>
              </a:ext>
            </a:extLst>
          </p:cNvPr>
          <p:cNvSpPr/>
          <p:nvPr/>
        </p:nvSpPr>
        <p:spPr>
          <a:xfrm>
            <a:off x="6624963" y="2991863"/>
            <a:ext cx="1707913" cy="1465837"/>
          </a:xfrm>
          <a:prstGeom prst="roundRect">
            <a:avLst>
              <a:gd name="adj" fmla="val 8512"/>
            </a:avLst>
          </a:prstGeom>
          <a:solidFill>
            <a:schemeClr val="accent6">
              <a:lumMod val="20000"/>
              <a:lumOff val="80000"/>
              <a:alpha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8E8EA01-462B-6C69-DF3C-B3107CA305F3}"/>
              </a:ext>
            </a:extLst>
          </p:cNvPr>
          <p:cNvSpPr txBox="1"/>
          <p:nvPr/>
        </p:nvSpPr>
        <p:spPr>
          <a:xfrm>
            <a:off x="6583714" y="3004956"/>
            <a:ext cx="18069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Property-driven Inverse Design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E86402A-723E-A205-9196-C7CE279FF95D}"/>
              </a:ext>
            </a:extLst>
          </p:cNvPr>
          <p:cNvSpPr/>
          <p:nvPr/>
        </p:nvSpPr>
        <p:spPr>
          <a:xfrm>
            <a:off x="6911042" y="3404866"/>
            <a:ext cx="1251626" cy="27699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MIND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283E21D-3C7F-BBCE-D1DB-5B68CEEDEA1D}"/>
              </a:ext>
            </a:extLst>
          </p:cNvPr>
          <p:cNvSpPr/>
          <p:nvPr/>
        </p:nvSpPr>
        <p:spPr>
          <a:xfrm>
            <a:off x="1707423" y="549698"/>
            <a:ext cx="1848255" cy="1789644"/>
          </a:xfrm>
          <a:prstGeom prst="roundRect">
            <a:avLst>
              <a:gd name="adj" fmla="val 5212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4015A0E-22D2-3226-07C8-B26BA70603E5}"/>
              </a:ext>
            </a:extLst>
          </p:cNvPr>
          <p:cNvSpPr txBox="1"/>
          <p:nvPr/>
        </p:nvSpPr>
        <p:spPr>
          <a:xfrm>
            <a:off x="1912968" y="549697"/>
            <a:ext cx="14398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 Modeling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911857C-7AA8-78C9-2FA4-9B97644AFDB1}"/>
              </a:ext>
            </a:extLst>
          </p:cNvPr>
          <p:cNvSpPr/>
          <p:nvPr/>
        </p:nvSpPr>
        <p:spPr>
          <a:xfrm>
            <a:off x="1823858" y="826696"/>
            <a:ext cx="1616675" cy="2770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Parametric Plate Lattices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DFC5B358-96B1-6F8F-5B79-73DFDC6B1CDC}"/>
              </a:ext>
            </a:extLst>
          </p:cNvPr>
          <p:cNvSpPr/>
          <p:nvPr/>
        </p:nvSpPr>
        <p:spPr>
          <a:xfrm>
            <a:off x="1823858" y="1211618"/>
            <a:ext cx="1616675" cy="2770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Parametric </a:t>
            </a:r>
            <a:r>
              <a:rPr lang="en-US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Shell</a:t>
            </a:r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 Lattices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DD3C6E6-DFD0-5089-75CD-351BAE386B5E}"/>
              </a:ext>
            </a:extLst>
          </p:cNvPr>
          <p:cNvSpPr/>
          <p:nvPr/>
        </p:nvSpPr>
        <p:spPr>
          <a:xfrm>
            <a:off x="1823858" y="1596540"/>
            <a:ext cx="1616675" cy="2770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TPMS-Like</a:t>
            </a:r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Shell</a:t>
            </a:r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 Lattices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60F7BD2-7636-B117-3A88-08331CA7DE90}"/>
              </a:ext>
            </a:extLst>
          </p:cNvPr>
          <p:cNvSpPr/>
          <p:nvPr/>
        </p:nvSpPr>
        <p:spPr>
          <a:xfrm>
            <a:off x="1823858" y="1981462"/>
            <a:ext cx="1616675" cy="2770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000" dirty="0">
                <a:latin typeface="Calibri" panose="020F0502020204030204" pitchFamily="34" charset="0"/>
                <a:cs typeface="Calibri" panose="020F0502020204030204" pitchFamily="34" charset="0"/>
              </a:rPr>
              <a:t>Stochastic Periodic Porous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BE394DC7-D53E-4DF2-077A-00C828834E6E}"/>
              </a:ext>
            </a:extLst>
          </p:cNvPr>
          <p:cNvSpPr/>
          <p:nvPr/>
        </p:nvSpPr>
        <p:spPr>
          <a:xfrm>
            <a:off x="6911042" y="3887378"/>
            <a:ext cx="1251626" cy="27699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AutoMS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88A4996-223B-41EF-71A0-636A7D73E3A9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3555678" y="1444520"/>
            <a:ext cx="1533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3E9868E-61A2-243D-F8A8-EC3BFDA6B671}"/>
              </a:ext>
            </a:extLst>
          </p:cNvPr>
          <p:cNvCxnSpPr>
            <a:cxnSpLocks/>
          </p:cNvCxnSpPr>
          <p:nvPr/>
        </p:nvCxnSpPr>
        <p:spPr>
          <a:xfrm>
            <a:off x="6164450" y="1452131"/>
            <a:ext cx="2073077" cy="1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FFB8F92D-9B6F-07CD-63C4-1FF65E2A7E11}"/>
              </a:ext>
            </a:extLst>
          </p:cNvPr>
          <p:cNvCxnSpPr>
            <a:cxnSpLocks/>
          </p:cNvCxnSpPr>
          <p:nvPr/>
        </p:nvCxnSpPr>
        <p:spPr>
          <a:xfrm flipH="1" flipV="1">
            <a:off x="6164450" y="1669981"/>
            <a:ext cx="2073077" cy="5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52444FA6-AAA5-9C8B-08EE-3F2D5BA110EA}"/>
              </a:ext>
            </a:extLst>
          </p:cNvPr>
          <p:cNvCxnSpPr>
            <a:cxnSpLocks/>
            <a:stCxn id="6" idx="2"/>
            <a:endCxn id="2" idx="3"/>
          </p:cNvCxnSpPr>
          <p:nvPr/>
        </p:nvCxnSpPr>
        <p:spPr>
          <a:xfrm rot="5400000">
            <a:off x="8082856" y="2702156"/>
            <a:ext cx="1279350" cy="5410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4E8313C0-D05D-0C1F-3117-ABF484F704A5}"/>
              </a:ext>
            </a:extLst>
          </p:cNvPr>
          <p:cNvSpPr/>
          <p:nvPr/>
        </p:nvSpPr>
        <p:spPr>
          <a:xfrm>
            <a:off x="2876886" y="2987273"/>
            <a:ext cx="1859742" cy="1465837"/>
          </a:xfrm>
          <a:prstGeom prst="roundRect">
            <a:avLst>
              <a:gd name="adj" fmla="val 8512"/>
            </a:avLst>
          </a:prstGeom>
          <a:solidFill>
            <a:schemeClr val="bg2">
              <a:alpha val="5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999A15B-9262-1C5E-C3E7-E678F951EF4D}"/>
              </a:ext>
            </a:extLst>
          </p:cNvPr>
          <p:cNvSpPr txBox="1"/>
          <p:nvPr/>
        </p:nvSpPr>
        <p:spPr>
          <a:xfrm>
            <a:off x="2818884" y="2995207"/>
            <a:ext cx="1963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Application-oriented Optimization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B8E80810-84DC-E5D2-BCCC-E143D42131B5}"/>
              </a:ext>
            </a:extLst>
          </p:cNvPr>
          <p:cNvSpPr/>
          <p:nvPr/>
        </p:nvSpPr>
        <p:spPr>
          <a:xfrm>
            <a:off x="3016254" y="3284052"/>
            <a:ext cx="1616674" cy="276999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Energy Absorption Optimization of </a:t>
            </a:r>
            <a:r>
              <a:rPr lang="en-US" altLang="zh-CN" sz="1000" dirty="0">
                <a:latin typeface="Calibri" panose="020F0502020204030204" pitchFamily="34" charset="0"/>
                <a:cs typeface="Calibri" panose="020F0502020204030204" pitchFamily="34" charset="0"/>
              </a:rPr>
              <a:t>PPL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6B61BA79-1CCB-4A71-9D85-1F2881E3F0C8}"/>
              </a:ext>
            </a:extLst>
          </p:cNvPr>
          <p:cNvSpPr/>
          <p:nvPr/>
        </p:nvSpPr>
        <p:spPr>
          <a:xfrm>
            <a:off x="5043185" y="3659196"/>
            <a:ext cx="1251626" cy="276999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MAPLE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D3132438-9161-BF90-851F-82D43F02626C}"/>
              </a:ext>
            </a:extLst>
          </p:cNvPr>
          <p:cNvSpPr txBox="1"/>
          <p:nvPr/>
        </p:nvSpPr>
        <p:spPr>
          <a:xfrm>
            <a:off x="3666002" y="1185195"/>
            <a:ext cx="13388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Construction</a:t>
            </a:r>
            <a:endParaRPr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72EB54B5-C516-961C-F389-743917333DC9}"/>
              </a:ext>
            </a:extLst>
          </p:cNvPr>
          <p:cNvSpPr txBox="1"/>
          <p:nvPr/>
        </p:nvSpPr>
        <p:spPr>
          <a:xfrm>
            <a:off x="6351916" y="1195742"/>
            <a:ext cx="15760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benchmarks</a:t>
            </a:r>
            <a:endParaRPr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7195A073-C0C1-1B77-89B5-281D24E09953}"/>
              </a:ext>
            </a:extLst>
          </p:cNvPr>
          <p:cNvSpPr txBox="1"/>
          <p:nvPr/>
        </p:nvSpPr>
        <p:spPr>
          <a:xfrm>
            <a:off x="6743048" y="1461729"/>
            <a:ext cx="7938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FD4CE7F-68CB-EEB2-5005-48067DC30C8D}"/>
              </a:ext>
            </a:extLst>
          </p:cNvPr>
          <p:cNvSpPr txBox="1"/>
          <p:nvPr/>
        </p:nvSpPr>
        <p:spPr>
          <a:xfrm>
            <a:off x="8952241" y="2808106"/>
            <a:ext cx="7963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D313650F-A0B3-7D35-2E19-99D26637A5B0}"/>
              </a:ext>
            </a:extLst>
          </p:cNvPr>
          <p:cNvSpPr/>
          <p:nvPr/>
        </p:nvSpPr>
        <p:spPr>
          <a:xfrm>
            <a:off x="3021342" y="3659196"/>
            <a:ext cx="1616675" cy="2770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Joint-Enhanced </a:t>
            </a:r>
            <a:endParaRPr lang="en-US" altLang="zh-CN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zh-CN" alt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Truss Lattice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73855E10-274E-161A-94CF-B9EDD15C29E5}"/>
              </a:ext>
            </a:extLst>
          </p:cNvPr>
          <p:cNvSpPr txBox="1"/>
          <p:nvPr/>
        </p:nvSpPr>
        <p:spPr>
          <a:xfrm>
            <a:off x="4833605" y="2995366"/>
            <a:ext cx="16528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optimization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FCF21A80-83EA-FD68-12E3-B4C25DFAABBA}"/>
              </a:ext>
            </a:extLst>
          </p:cNvPr>
          <p:cNvSpPr txBox="1"/>
          <p:nvPr/>
        </p:nvSpPr>
        <p:spPr>
          <a:xfrm>
            <a:off x="3352786" y="2413467"/>
            <a:ext cx="24951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>
              <a:buNone/>
            </a:pPr>
            <a:r>
              <a:rPr lang="zh-CN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expansion</a:t>
            </a:r>
            <a:r>
              <a:rPr lang="en-US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optimization </a:t>
            </a:r>
            <a:endParaRPr lang="zh-CN" altLang="zh-CN" sz="10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550F4C1-A8A0-2E81-15F0-C764BCFDCAF7}"/>
              </a:ext>
            </a:extLst>
          </p:cNvPr>
          <p:cNvSpPr/>
          <p:nvPr/>
        </p:nvSpPr>
        <p:spPr>
          <a:xfrm>
            <a:off x="2768161" y="2699674"/>
            <a:ext cx="5683859" cy="1825335"/>
          </a:xfrm>
          <a:prstGeom prst="roundRect">
            <a:avLst>
              <a:gd name="adj" fmla="val 5212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1128134-D0F4-5B2F-1BCE-16E82D677C5C}"/>
              </a:ext>
            </a:extLst>
          </p:cNvPr>
          <p:cNvCxnSpPr/>
          <p:nvPr/>
        </p:nvCxnSpPr>
        <p:spPr>
          <a:xfrm>
            <a:off x="5854276" y="2149655"/>
            <a:ext cx="0" cy="550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5A5D0CD-9A29-0EFC-3C68-0764D45E0568}"/>
              </a:ext>
            </a:extLst>
          </p:cNvPr>
          <p:cNvCxnSpPr/>
          <p:nvPr/>
        </p:nvCxnSpPr>
        <p:spPr>
          <a:xfrm flipV="1">
            <a:off x="5322896" y="2149655"/>
            <a:ext cx="0" cy="550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CA08A4B-18A2-A369-D579-894FEC16DB0F}"/>
              </a:ext>
            </a:extLst>
          </p:cNvPr>
          <p:cNvSpPr txBox="1"/>
          <p:nvPr/>
        </p:nvSpPr>
        <p:spPr>
          <a:xfrm>
            <a:off x="5841389" y="2404660"/>
            <a:ext cx="24951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>
              <a:buNone/>
            </a:pPr>
            <a:r>
              <a:rPr lang="en-US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Optimization input </a:t>
            </a:r>
            <a:endParaRPr lang="zh-CN" altLang="zh-CN" sz="10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278C7F-4F3D-3A2E-4129-4EE42576467B}"/>
              </a:ext>
            </a:extLst>
          </p:cNvPr>
          <p:cNvSpPr txBox="1"/>
          <p:nvPr/>
        </p:nvSpPr>
        <p:spPr>
          <a:xfrm>
            <a:off x="3798396" y="2701506"/>
            <a:ext cx="36327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&amp; Optimization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F6D8B68-71C4-3260-0B8A-E32B63BF3D7B}"/>
              </a:ext>
            </a:extLst>
          </p:cNvPr>
          <p:cNvSpPr/>
          <p:nvPr/>
        </p:nvSpPr>
        <p:spPr>
          <a:xfrm>
            <a:off x="3016254" y="4025878"/>
            <a:ext cx="1616675" cy="2770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Calibri" panose="020F0502020204030204" pitchFamily="34" charset="0"/>
                <a:cs typeface="Calibri" panose="020F0502020204030204" pitchFamily="34" charset="0"/>
              </a:rPr>
              <a:t>SLIM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220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234</Words>
  <Application>Microsoft Office PowerPoint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</dc:creator>
  <cp:lastModifiedBy>XingYu</cp:lastModifiedBy>
  <cp:revision>3</cp:revision>
  <dcterms:created xsi:type="dcterms:W3CDTF">2026-07-19T06:22:13Z</dcterms:created>
  <dcterms:modified xsi:type="dcterms:W3CDTF">2026-10-02T04:42:50Z</dcterms:modified>
</cp:coreProperties>
</file>